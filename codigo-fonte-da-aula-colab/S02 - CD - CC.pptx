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Raleway"/>
      <p:regular r:id="rId22"/>
      <p:bold r:id="rId23"/>
      <p:italic r:id="rId24"/>
      <p:boldItalic r:id="rId25"/>
    </p:embeddedFont>
    <p:embeddedFont>
      <p:font typeface="Lato"/>
      <p:regular r:id="rId26"/>
      <p:bold r:id="rId27"/>
      <p:italic r:id="rId28"/>
      <p:boldItalic r:id="rId29"/>
    </p:embeddedFont>
    <p:embeddedFont>
      <p:font typeface="Roboto Mon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aleway-regular.fntdata"/><Relationship Id="rId21" Type="http://schemas.openxmlformats.org/officeDocument/2006/relationships/slide" Target="slides/slide16.xml"/><Relationship Id="rId24" Type="http://schemas.openxmlformats.org/officeDocument/2006/relationships/font" Target="fonts/Raleway-italic.fntdata"/><Relationship Id="rId23" Type="http://schemas.openxmlformats.org/officeDocument/2006/relationships/font" Target="fonts/Raleway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regular.fntdata"/><Relationship Id="rId25" Type="http://schemas.openxmlformats.org/officeDocument/2006/relationships/font" Target="fonts/Raleway-boldItalic.fntdata"/><Relationship Id="rId28" Type="http://schemas.openxmlformats.org/officeDocument/2006/relationships/font" Target="fonts/Lato-italic.fntdata"/><Relationship Id="rId27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bold.fntdata"/><Relationship Id="rId30" Type="http://schemas.openxmlformats.org/officeDocument/2006/relationships/font" Target="fonts/RobotoMono-regular.fntdata"/><Relationship Id="rId11" Type="http://schemas.openxmlformats.org/officeDocument/2006/relationships/slide" Target="slides/slide6.xml"/><Relationship Id="rId33" Type="http://schemas.openxmlformats.org/officeDocument/2006/relationships/font" Target="fonts/RobotoMono-boldItalic.fntdata"/><Relationship Id="rId10" Type="http://schemas.openxmlformats.org/officeDocument/2006/relationships/slide" Target="slides/slide5.xml"/><Relationship Id="rId32" Type="http://schemas.openxmlformats.org/officeDocument/2006/relationships/font" Target="fonts/RobotoMon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04c416734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04c416734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ffb0ad7697_0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ffb0ad7697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d2f297da7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d2f297da7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d2f297da75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d2f297da75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ffb0ad7697_0_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ffb0ad7697_0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ffb0ad7697_0_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ffb0ad7697_0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ffb0ad7697_0_4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ffb0ad7697_0_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ffb0ad7697_0_4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ffb0ad7697_0_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ffb0ad7697_0_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ffb0ad7697_0_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d2f297da7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d2f297da7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d2f297da75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d2f297da75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d2f297da7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d2f297da7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ffb0ad7697_0_4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ffb0ad7697_0_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d2f297da7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d2f297da7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ffb0ad7697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ffb0ad7697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ffb0ad7697_0_4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ffb0ad7697_0_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1321200"/>
            <a:ext cx="7688700" cy="30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kaggle.com/code/kashnitsky/topic-1-exploratory-data-analysis-with-pandas" TargetMode="External"/><Relationship Id="rId4" Type="http://schemas.openxmlformats.org/officeDocument/2006/relationships/hyperlink" Target="https://medium.com/@nomannayeem/mastering-exploratory-data-analysis-eda-a-comprehensive-python-pandas-guide-for-data-insights-c0be7c5b8889" TargetMode="External"/><Relationship Id="rId5" Type="http://schemas.openxmlformats.org/officeDocument/2006/relationships/hyperlink" Target="https://eminebozkus.medium.com/exploratory-data-analysis-eda-using-pandas-profiling-5bc7276a5abd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Ciência de Dados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André Luiz França Batista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são dados?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1321200"/>
            <a:ext cx="7688700" cy="3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/>
              <a:t>Dados são uma coleção de informações.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700"/>
              <a:t>Um dos objetivos da Ciência de Dados é estruturar dados, tornando-os interpretáveis ​​e fáceis de trabalhar.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700"/>
              <a:t>Os dados podem ser categorizados 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700"/>
              <a:t>em dois grupos:</a:t>
            </a:r>
            <a:endParaRPr sz="1700"/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pt-BR" sz="1700"/>
              <a:t>Dados estruturados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pt-BR" sz="1700"/>
              <a:t>Dados não estruturados</a:t>
            </a:r>
            <a:endParaRPr sz="1700"/>
          </a:p>
        </p:txBody>
      </p:sp>
      <p:pic>
        <p:nvPicPr>
          <p:cNvPr id="94" name="Google Shape;9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3800" y="2415275"/>
            <a:ext cx="4850202" cy="2728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4738" y="152400"/>
            <a:ext cx="6214521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41238"/>
            <a:ext cx="8839200" cy="44610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Tabelas</a:t>
            </a:r>
            <a:endParaRPr/>
          </a:p>
        </p:txBody>
      </p:sp>
      <p:sp>
        <p:nvSpPr>
          <p:cNvPr id="110" name="Google Shape;110;p17"/>
          <p:cNvSpPr txBox="1"/>
          <p:nvPr>
            <p:ph idx="1" type="body"/>
          </p:nvPr>
        </p:nvSpPr>
        <p:spPr>
          <a:xfrm>
            <a:off x="729450" y="1321200"/>
            <a:ext cx="7688700" cy="30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pt-BR"/>
              <a:t>Tabela é um tipo de dados estruturados.</a:t>
            </a:r>
            <a:endParaRPr/>
          </a:p>
        </p:txBody>
      </p:sp>
      <p:pic>
        <p:nvPicPr>
          <p:cNvPr id="111" name="Google Shape;11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80388"/>
            <a:ext cx="9144000" cy="3263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Estrutura da tabela (linhas e colunas)</a:t>
            </a:r>
            <a:endParaRPr/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729450" y="1321200"/>
            <a:ext cx="7688700" cy="30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0" y="1540413"/>
            <a:ext cx="9144001" cy="360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Variáveis</a:t>
            </a:r>
            <a:endParaRPr/>
          </a:p>
        </p:txBody>
      </p:sp>
      <p:sp>
        <p:nvSpPr>
          <p:cNvPr id="124" name="Google Shape;124;p19"/>
          <p:cNvSpPr txBox="1"/>
          <p:nvPr>
            <p:ph idx="1" type="body"/>
          </p:nvPr>
        </p:nvSpPr>
        <p:spPr>
          <a:xfrm>
            <a:off x="729450" y="1321200"/>
            <a:ext cx="7688700" cy="30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pt-BR"/>
              <a:t>Pode ser medido e contado.</a:t>
            </a:r>
            <a:endParaRPr/>
          </a:p>
        </p:txBody>
      </p:sp>
      <p:pic>
        <p:nvPicPr>
          <p:cNvPr id="125" name="Google Shape;12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88741"/>
            <a:ext cx="9143999" cy="32547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Variáveis</a:t>
            </a:r>
            <a:endParaRPr/>
          </a:p>
        </p:txBody>
      </p:sp>
      <p:sp>
        <p:nvSpPr>
          <p:cNvPr id="131" name="Google Shape;131;p20"/>
          <p:cNvSpPr txBox="1"/>
          <p:nvPr>
            <p:ph idx="1" type="body"/>
          </p:nvPr>
        </p:nvSpPr>
        <p:spPr>
          <a:xfrm>
            <a:off x="729450" y="1321200"/>
            <a:ext cx="7688700" cy="30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Há 6 colunas, o que significa que há 6 variáveis ​​(Duração, Pulso_Médio, Pulso_Máximo, Queima_de_Calorias, Horas_Atividade, Horas_Sono).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Há 11 linhas, o que significa que cada variável tem 10 observações.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850" y="2656050"/>
            <a:ext cx="6988301" cy="248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Dúvidas?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Pandas</a:t>
            </a:r>
            <a:endParaRPr/>
          </a:p>
        </p:txBody>
      </p:sp>
      <p:sp>
        <p:nvSpPr>
          <p:cNvPr id="143" name="Google Shape;143;p22"/>
          <p:cNvSpPr txBox="1"/>
          <p:nvPr>
            <p:ph idx="1" type="body"/>
          </p:nvPr>
        </p:nvSpPr>
        <p:spPr>
          <a:xfrm>
            <a:off x="729450" y="1321200"/>
            <a:ext cx="7688700" cy="30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É</a:t>
            </a:r>
            <a:r>
              <a:rPr lang="pt-BR" sz="1800"/>
              <a:t> uma biblioteca Python usada para trabalhar com conjuntos de dados.</a:t>
            </a:r>
            <a:endParaRPr sz="18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/>
              <a:t>Tem funções para analisar, limpar, explorar e manipular dados.</a:t>
            </a:r>
            <a:endParaRPr sz="18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/>
              <a:t>"Pandas" tem uma referência tanto a "Panel Data" quanto a "Python Data Analysis" e foi criado por Wes McKinney em 2008.</a:t>
            </a:r>
            <a:endParaRPr sz="1800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Google Colab</a:t>
            </a:r>
            <a:endParaRPr/>
          </a:p>
        </p:txBody>
      </p:sp>
      <p:sp>
        <p:nvSpPr>
          <p:cNvPr id="149" name="Google Shape;149;p23"/>
          <p:cNvSpPr txBox="1"/>
          <p:nvPr>
            <p:ph idx="1" type="body"/>
          </p:nvPr>
        </p:nvSpPr>
        <p:spPr>
          <a:xfrm>
            <a:off x="729450" y="1321200"/>
            <a:ext cx="7688700" cy="30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/>
              <a:t>IA integrada ao Colab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Google Colab</a:t>
            </a:r>
            <a:endParaRPr/>
          </a:p>
        </p:txBody>
      </p:sp>
      <p:sp>
        <p:nvSpPr>
          <p:cNvPr id="155" name="Google Shape;155;p24"/>
          <p:cNvSpPr txBox="1"/>
          <p:nvPr>
            <p:ph idx="1" type="body"/>
          </p:nvPr>
        </p:nvSpPr>
        <p:spPr>
          <a:xfrm>
            <a:off x="729450" y="1321200"/>
            <a:ext cx="7688700" cy="30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import pandas as pd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mydataset = {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  'cars': ["BMW", "Volvo", "Ford"],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  'passings': [3, 7, 2]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df = pd.DataFrame(mydataset)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print(df)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Google Colab - Pandas - read.csv()</a:t>
            </a:r>
            <a:endParaRPr/>
          </a:p>
        </p:txBody>
      </p:sp>
      <p:sp>
        <p:nvSpPr>
          <p:cNvPr id="161" name="Google Shape;161;p25"/>
          <p:cNvSpPr txBox="1"/>
          <p:nvPr>
            <p:ph idx="1" type="body"/>
          </p:nvPr>
        </p:nvSpPr>
        <p:spPr>
          <a:xfrm>
            <a:off x="729450" y="1321200"/>
            <a:ext cx="7688700" cy="30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latin typeface="Roboto Mono"/>
                <a:ea typeface="Roboto Mono"/>
                <a:cs typeface="Roboto Mono"/>
                <a:sym typeface="Roboto Mono"/>
              </a:rPr>
              <a:t>import pandas as pd</a:t>
            </a:r>
            <a:endParaRPr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400">
                <a:latin typeface="Roboto Mono"/>
                <a:ea typeface="Roboto Mono"/>
                <a:cs typeface="Roboto Mono"/>
                <a:sym typeface="Roboto Mono"/>
              </a:rPr>
              <a:t>df = pd.read_csv(</a:t>
            </a: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'</a:t>
            </a:r>
            <a:r>
              <a:rPr lang="pt-BR" sz="1400">
                <a:latin typeface="Roboto Mono"/>
                <a:ea typeface="Roboto Mono"/>
                <a:cs typeface="Roboto Mono"/>
                <a:sym typeface="Roboto Mono"/>
              </a:rPr>
              <a:t>https://www.w3schools.com/python/pandas/data.csv</a:t>
            </a: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'</a:t>
            </a:r>
            <a:r>
              <a:rPr lang="pt-BR" sz="1400"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400">
                <a:latin typeface="Roboto Mono"/>
                <a:ea typeface="Roboto Mono"/>
                <a:cs typeface="Roboto Mono"/>
                <a:sym typeface="Roboto Mono"/>
              </a:rPr>
              <a:t>df</a:t>
            </a:r>
            <a:endParaRPr sz="14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EDA - links</a:t>
            </a:r>
            <a:endParaRPr/>
          </a:p>
        </p:txBody>
      </p:sp>
      <p:sp>
        <p:nvSpPr>
          <p:cNvPr id="167" name="Google Shape;167;p26"/>
          <p:cNvSpPr txBox="1"/>
          <p:nvPr>
            <p:ph idx="1" type="body"/>
          </p:nvPr>
        </p:nvSpPr>
        <p:spPr>
          <a:xfrm>
            <a:off x="729450" y="1321200"/>
            <a:ext cx="7688700" cy="30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latin typeface="Roboto Mono"/>
                <a:ea typeface="Roboto Mono"/>
                <a:cs typeface="Roboto Mono"/>
                <a:sym typeface="Roboto Mono"/>
                <a:hlinkClick r:id="rId3"/>
              </a:rPr>
              <a:t>https://www.kaggle.com/code/kashnitsky/topic-1-exploratory-data-analysis-with-pandas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latin typeface="Roboto Mono"/>
                <a:ea typeface="Roboto Mono"/>
                <a:cs typeface="Roboto Mono"/>
                <a:sym typeface="Roboto Mono"/>
                <a:hlinkClick r:id="rId4"/>
              </a:rPr>
              <a:t>https://medium.com/@nomannayeem/mastering-exploratory-data-analysis-eda-a-comprehensive-python-pandas-guide-for-data-insights-c0be7c5b8889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latin typeface="Roboto Mono"/>
                <a:ea typeface="Roboto Mono"/>
                <a:cs typeface="Roboto Mono"/>
                <a:sym typeface="Roboto Mono"/>
                <a:hlinkClick r:id="rId5"/>
              </a:rPr>
              <a:t>https://eminebozkus.medium.com/exploratory-data-analysis-eda-using-pandas-profiling-5bc7276a5abd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 txBox="1"/>
          <p:nvPr>
            <p:ph type="title"/>
          </p:nvPr>
        </p:nvSpPr>
        <p:spPr>
          <a:xfrm>
            <a:off x="729450" y="571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EDA (Exploratory Data Analysis)</a:t>
            </a:r>
            <a:endParaRPr/>
          </a:p>
        </p:txBody>
      </p:sp>
      <p:sp>
        <p:nvSpPr>
          <p:cNvPr id="173" name="Google Shape;173;p27"/>
          <p:cNvSpPr txBox="1"/>
          <p:nvPr>
            <p:ph idx="1" type="body"/>
          </p:nvPr>
        </p:nvSpPr>
        <p:spPr>
          <a:xfrm>
            <a:off x="729450" y="1321200"/>
            <a:ext cx="7688700" cy="3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12121"/>
                </a:solidFill>
                <a:highlight>
                  <a:srgbClr val="FFFFFF"/>
                </a:highlight>
              </a:rPr>
              <a:t>Análise Exploratória Inicial</a:t>
            </a:r>
            <a:endParaRPr b="1" sz="1800">
              <a:solidFill>
                <a:srgbClr val="21212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212121"/>
              </a:buClr>
              <a:buSzPts val="1800"/>
              <a:buFont typeface="Roboto"/>
              <a:buChar char="●"/>
            </a:pPr>
            <a:r>
              <a:rPr lang="pt-BR" sz="1800">
                <a:solidFill>
                  <a:srgbClr val="212121"/>
                </a:solidFill>
                <a:highlight>
                  <a:srgbClr val="FFFFFF"/>
                </a:highlight>
              </a:rPr>
              <a:t>Carregar dados</a:t>
            </a:r>
            <a:r>
              <a:rPr lang="pt-BR" sz="1800">
                <a:solidFill>
                  <a:srgbClr val="212121"/>
                </a:solidFill>
                <a:highlight>
                  <a:srgbClr val="FFFFFF"/>
                </a:highlight>
              </a:rPr>
              <a:t> (pd.read_csv)</a:t>
            </a:r>
            <a:endParaRPr sz="1800">
              <a:solidFill>
                <a:srgbClr val="21212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800"/>
              <a:buFont typeface="Roboto"/>
              <a:buChar char="●"/>
            </a:pPr>
            <a:r>
              <a:rPr lang="pt-BR" sz="1800">
                <a:solidFill>
                  <a:srgbClr val="212121"/>
                </a:solidFill>
                <a:highlight>
                  <a:srgbClr val="FFFFFF"/>
                </a:highlight>
              </a:rPr>
              <a:t>index, sorting (df.sort_values)</a:t>
            </a:r>
            <a:endParaRPr sz="1800">
              <a:solidFill>
                <a:srgbClr val="21212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800"/>
              <a:buChar char="●"/>
            </a:pPr>
            <a:r>
              <a:rPr lang="pt-BR" sz="1800">
                <a:solidFill>
                  <a:srgbClr val="212121"/>
                </a:solidFill>
                <a:highlight>
                  <a:srgbClr val="FFFFFF"/>
                </a:highlight>
              </a:rPr>
              <a:t>head, tail</a:t>
            </a:r>
            <a:endParaRPr sz="1800">
              <a:solidFill>
                <a:srgbClr val="21212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800"/>
              <a:buChar char="●"/>
            </a:pPr>
            <a:r>
              <a:rPr lang="pt-BR" sz="1800">
                <a:solidFill>
                  <a:srgbClr val="212121"/>
                </a:solidFill>
                <a:highlight>
                  <a:srgbClr val="FFFFFF"/>
                </a:highlight>
              </a:rPr>
              <a:t>dropna</a:t>
            </a:r>
            <a:endParaRPr sz="1800">
              <a:solidFill>
                <a:srgbClr val="21212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800"/>
              <a:buChar char="●"/>
            </a:pPr>
            <a:r>
              <a:rPr lang="pt-BR" sz="1800">
                <a:solidFill>
                  <a:srgbClr val="212121"/>
                </a:solidFill>
                <a:highlight>
                  <a:srgbClr val="FFFFFF"/>
                </a:highlight>
              </a:rPr>
              <a:t>corr</a:t>
            </a:r>
            <a:endParaRPr sz="1800">
              <a:solidFill>
                <a:srgbClr val="21212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800"/>
              <a:buChar char="●"/>
            </a:pPr>
            <a:r>
              <a:rPr lang="pt-BR" sz="1800">
                <a:solidFill>
                  <a:srgbClr val="212121"/>
                </a:solidFill>
                <a:highlight>
                  <a:srgbClr val="FFFFFF"/>
                </a:highlight>
              </a:rPr>
              <a:t>shape</a:t>
            </a:r>
            <a:endParaRPr sz="1800">
              <a:solidFill>
                <a:srgbClr val="21212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800"/>
              <a:buChar char="●"/>
            </a:pPr>
            <a:r>
              <a:rPr lang="pt-BR" sz="1800">
                <a:solidFill>
                  <a:srgbClr val="212121"/>
                </a:solidFill>
                <a:highlight>
                  <a:srgbClr val="FFFFFF"/>
                </a:highlight>
              </a:rPr>
              <a:t>columns</a:t>
            </a:r>
            <a:endParaRPr sz="1800">
              <a:solidFill>
                <a:srgbClr val="21212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800"/>
              <a:buChar char="●"/>
            </a:pPr>
            <a:r>
              <a:rPr lang="pt-BR" sz="1800">
                <a:solidFill>
                  <a:srgbClr val="212121"/>
                </a:solidFill>
                <a:highlight>
                  <a:srgbClr val="FFFFFF"/>
                </a:highlight>
              </a:rPr>
              <a:t>info</a:t>
            </a:r>
            <a:endParaRPr sz="1800">
              <a:solidFill>
                <a:srgbClr val="21212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800"/>
              <a:buChar char="●"/>
            </a:pPr>
            <a:r>
              <a:rPr lang="pt-BR" sz="1800">
                <a:solidFill>
                  <a:srgbClr val="212121"/>
                </a:solidFill>
                <a:highlight>
                  <a:srgbClr val="FFFFFF"/>
                </a:highlight>
              </a:rPr>
              <a:t>describe</a:t>
            </a:r>
            <a:endParaRPr sz="1800">
              <a:solidFill>
                <a:srgbClr val="21212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800"/>
              <a:buChar char="●"/>
            </a:pPr>
            <a:r>
              <a:rPr lang="pt-BR" sz="1800">
                <a:solidFill>
                  <a:srgbClr val="212121"/>
                </a:solidFill>
                <a:highlight>
                  <a:srgbClr val="FFFFFF"/>
                </a:highlight>
              </a:rPr>
              <a:t>value_counts</a:t>
            </a:r>
            <a:endParaRPr sz="1800">
              <a:solidFill>
                <a:srgbClr val="21212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800"/>
              <a:buChar char="●"/>
            </a:pPr>
            <a:r>
              <a:rPr lang="pt-BR" sz="1800">
                <a:solidFill>
                  <a:srgbClr val="212121"/>
                </a:solidFill>
                <a:highlight>
                  <a:srgbClr val="FFFFFF"/>
                </a:highlight>
              </a:rPr>
              <a:t>mean, std, max, min, median</a:t>
            </a:r>
            <a:endParaRPr sz="1800">
              <a:solidFill>
                <a:srgbClr val="21212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Dúvidas?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